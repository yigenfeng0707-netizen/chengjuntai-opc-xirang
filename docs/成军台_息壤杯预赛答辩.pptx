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D9488"/>
                </a:solidFill>
                <a:latin typeface="Microsoft YaHei"/>
              </a:rPr>
              <a:t>2026 息壤杯 · 惠民产品创新 · AI+自选开放场景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YaHei"/>
              </a:rPr>
              <a:t>成军台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D9488"/>
                </a:solidFill>
                <a:latin typeface="Microsoft YaHei"/>
              </a:rPr>
              <a:t>息壤育智 · 一人成军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49039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Microsoft YaHei"/>
              </a:rPr>
              <a:t>目标驱动的一人公司 AI 作战系统
多 Agent 协同 · 人审卡点 · Word 成军周报 · 真政采问数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Microsoft YaHei"/>
              </a:rPr>
              <a:t>OPC OS on 息壤 ｜ 仓库见提交材料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C2E"/>
                </a:solidFill>
                <a:latin typeface="Microsoft YaHei"/>
              </a:rPr>
              <a:t>痛点：缺的是操作系统，不是又一个对话框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0F1C2E"/>
                </a:solidFill>
                <a:latin typeface="Microsoft YaHei"/>
              </a:defRPr>
            </a:pPr>
            <a:r>
              <a:t>•  一人公司 / 超级个体：活是一支团队的量，缺编辑部与作战台</a:t>
            </a:r>
          </a:p>
          <a:p>
            <a:pPr>
              <a:spcAft>
                <a:spcPts val="800"/>
              </a:spcAft>
              <a:defRPr sz="2000">
                <a:solidFill>
                  <a:srgbClr val="0F1C2E"/>
                </a:solidFill>
                <a:latin typeface="Microsoft YaHei"/>
              </a:defRPr>
            </a:pPr>
            <a:r>
              <a:t>•  Chat 套壳：不可验收、无协作、无周报，无法交付给客户或上级</a:t>
            </a:r>
          </a:p>
          <a:p>
            <a:pPr>
              <a:spcAft>
                <a:spcPts val="800"/>
              </a:spcAft>
              <a:defRPr sz="2000">
                <a:solidFill>
                  <a:srgbClr val="0F1C2E"/>
                </a:solidFill>
                <a:latin typeface="Microsoft YaHei"/>
              </a:defRPr>
            </a:pPr>
            <a:r>
              <a:t>•  政企侧：内容种草、标讯情报、标书材料割裂，缺统一闭环</a:t>
            </a:r>
          </a:p>
          <a:p>
            <a:pPr>
              <a:spcAft>
                <a:spcPts val="800"/>
              </a:spcAft>
              <a:defRPr sz="2000">
                <a:solidFill>
                  <a:srgbClr val="0F1C2E"/>
                </a:solidFill>
                <a:latin typeface="Microsoft YaHei"/>
              </a:defRPr>
            </a:pPr>
            <a:r>
              <a:t>•  评委要的是可点通的路径，不是概念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Microsoft YaHei"/>
              </a:rPr>
              <a:t>成军台 · 息壤杯预赛  |  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C2E"/>
                </a:solidFill>
                <a:latin typeface="Microsoft YaHei"/>
              </a:rPr>
              <a:t>一句话方案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88720"/>
            <a:ext cx="10789920" cy="1280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F766E"/>
                </a:solidFill>
                <a:latin typeface="Microsoft YaHei"/>
              </a:rPr>
              <a:t>输入目标 → 司令拆任务 → AI 员工矩阵执行 → 人审卡点 → 一键导出 Word 成军周报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10058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F1C2E"/>
                </a:solidFill>
                <a:latin typeface="Microsoft YaHei"/>
              </a:defRPr>
            </a:pPr>
            <a:r>
              <a:t>•  增量能力：内容工厂（种草话术）· 标书工作台 · 浙江政采真实标讯 NL2SQL</a:t>
            </a:r>
          </a:p>
          <a:p>
            <a:pPr>
              <a:spcAft>
                <a:spcPts val="800"/>
              </a:spcAft>
              <a:defRPr sz="1800">
                <a:solidFill>
                  <a:srgbClr val="0F1C2E"/>
                </a:solidFill>
                <a:latin typeface="Microsoft YaHei"/>
              </a:defRPr>
            </a:pPr>
            <a:r>
              <a:t>•  底座：中国电信息壤 / 星辰 TokenHub · 天翼云可部署</a:t>
            </a:r>
          </a:p>
          <a:p>
            <a:pPr>
              <a:spcAft>
                <a:spcPts val="800"/>
              </a:spcAft>
              <a:defRPr sz="1800">
                <a:solidFill>
                  <a:srgbClr val="0F1C2E"/>
                </a:solidFill>
                <a:latin typeface="Microsoft YaHei"/>
              </a:defRPr>
            </a:pPr>
            <a:r>
              <a:t>•  赛道：惠民产品创新 · AI+自选开放场景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Microsoft YaHei"/>
              </a:rPr>
              <a:t>成军台 · 息壤杯预赛  |  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C2E"/>
                </a:solidFill>
                <a:latin typeface="Microsoft YaHei"/>
              </a:rPr>
              <a:t>评委 60 秒路径（零讲解）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234440"/>
            <a:ext cx="539496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9488"/>
                </a:solidFill>
                <a:latin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Microsoft YaHei"/>
              </a:rPr>
              <a:t>点评委 60 秒体验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Microsoft YaHei"/>
              </a:rPr>
              <a:t>自动登录 judge，打开获客样例战役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34440"/>
            <a:ext cx="539496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4630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9488"/>
                </a:solidFill>
                <a:latin typeface="Microsoft YaHe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Microsoft YaHei"/>
              </a:rPr>
              <a:t>看产物抽屉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37744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Microsoft YaHei"/>
              </a:rPr>
              <a:t>调研 / 内容 / 问数 / 运营可预览验收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520440"/>
            <a:ext cx="539496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490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9488"/>
                </a:solidFill>
                <a:latin typeface="Microsoft YaHe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2062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Microsoft YaHei"/>
              </a:rPr>
              <a:t>① 导出 Word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Microsoft YaHei"/>
              </a:rPr>
              <a:t>成军周报一键下载，交付不是聊天记录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520440"/>
            <a:ext cx="539496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490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9488"/>
                </a:solidFill>
                <a:latin typeface="Microsoft YaHe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2062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F1C2E"/>
                </a:solidFill>
                <a:latin typeface="Microsoft YaHei"/>
              </a:rPr>
              <a:t>② 智能问数一表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66344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Microsoft YaHei"/>
              </a:rPr>
              <a:t>真库出表；离线则明确标注缓存样例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Microsoft YaHei"/>
              </a:rPr>
              <a:t>成军台 · 息壤杯预赛  |  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C2E"/>
                </a:solidFill>
                <a:latin typeface="Microsoft YaHei"/>
              </a:rPr>
              <a:t>AI 员工矩阵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645920"/>
            <a:ext cx="21031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2103120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766E"/>
                </a:solidFill>
                <a:latin typeface="Microsoft YaHei"/>
              </a:rPr>
              <a:t>调研官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743200"/>
            <a:ext cx="1828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Microsoft YaHei"/>
              </a:rPr>
              <a:t>渠道 / 竞品情报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645920"/>
            <a:ext cx="21031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1645920"/>
            <a:ext cx="2103120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8036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766E"/>
                </a:solidFill>
                <a:latin typeface="Microsoft YaHei"/>
              </a:rPr>
              <a:t>内容官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2743200"/>
            <a:ext cx="1828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Microsoft YaHei"/>
              </a:rPr>
              <a:t>种草文案与话术包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645920"/>
            <a:ext cx="21031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0" y="1645920"/>
            <a:ext cx="2103120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6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766E"/>
                </a:solidFill>
                <a:latin typeface="Microsoft YaHei"/>
              </a:rPr>
              <a:t>数据参谋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743200"/>
            <a:ext cx="1828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Microsoft YaHei"/>
              </a:rPr>
              <a:t>NL2SQL 真标讯问数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1645920"/>
            <a:ext cx="21031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1645920"/>
            <a:ext cx="2103120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236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766E"/>
                </a:solidFill>
                <a:latin typeface="Microsoft YaHei"/>
              </a:rPr>
              <a:t>运营官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2743200"/>
            <a:ext cx="1828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Microsoft YaHei"/>
              </a:rPr>
              <a:t>跟进表与节奏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0" y="1645920"/>
            <a:ext cx="21031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601200" y="1645920"/>
            <a:ext cx="2103120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3836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766E"/>
                </a:solidFill>
                <a:latin typeface="Microsoft YaHei"/>
              </a:rPr>
              <a:t>复盘官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60" y="2743200"/>
            <a:ext cx="1828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4748B"/>
                </a:solidFill>
                <a:latin typeface="Microsoft YaHei"/>
              </a:rPr>
              <a:t>周报结构与总结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Microsoft YaHei"/>
              </a:rPr>
              <a:t>成军台 · 息壤杯预赛  |  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C2E"/>
                </a:solidFill>
                <a:latin typeface="Microsoft YaHei"/>
              </a:rPr>
              <a:t>技术架构（可演示）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F1C2E"/>
                </a:solidFill>
                <a:latin typeface="Microsoft YaHei"/>
              </a:defRPr>
            </a:pPr>
            <a:r>
              <a:t>•  Web：FastAPI + 成军看板 / 内容工厂 / 标书工作台（同屏协作）</a:t>
            </a:r>
          </a:p>
          <a:p>
            <a:pPr>
              <a:spcAft>
                <a:spcPts val="800"/>
              </a:spcAft>
              <a:defRPr sz="1800">
                <a:solidFill>
                  <a:srgbClr val="0F1C2E"/>
                </a:solidFill>
                <a:latin typeface="Microsoft YaHei"/>
              </a:defRPr>
            </a:pPr>
            <a:r>
              <a:t>•  编排：战役状态机 · 人审门 · 多 Agent 级联（大纲→写作→初审）</a:t>
            </a:r>
          </a:p>
          <a:p>
            <a:pPr>
              <a:spcAft>
                <a:spcPts val="800"/>
              </a:spcAft>
              <a:defRPr sz="1800">
                <a:solidFill>
                  <a:srgbClr val="0F1C2E"/>
                </a:solidFill>
                <a:latin typeface="Microsoft YaHei"/>
              </a:defRPr>
            </a:pPr>
            <a:r>
              <a:t>•  数据：bid_telecom.db 真实政采标讯 + NL2SQL MCP（8765）/ znws（8082）</a:t>
            </a:r>
          </a:p>
          <a:p>
            <a:pPr>
              <a:spcAft>
                <a:spcPts val="800"/>
              </a:spcAft>
              <a:defRPr sz="1800">
                <a:solidFill>
                  <a:srgbClr val="0F1C2E"/>
                </a:solidFill>
                <a:latin typeface="Microsoft YaHei"/>
              </a:defRPr>
            </a:pPr>
            <a:r>
              <a:t>•  模型：息壤 primary（wishub-x6）级联 TokenPlan / SenseNova；禁止静默 mock</a:t>
            </a:r>
          </a:p>
          <a:p>
            <a:pPr>
              <a:spcAft>
                <a:spcPts val="800"/>
              </a:spcAft>
              <a:defRPr sz="1800">
                <a:solidFill>
                  <a:srgbClr val="0F1C2E"/>
                </a:solidFill>
                <a:latin typeface="Microsoft YaHei"/>
              </a:defRPr>
            </a:pPr>
            <a:r>
              <a:t>•  交付：Markdown 源稿 + Word 导出 · MCP 工具封装 · 天翼云部署脚本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Microsoft YaHei"/>
              </a:rPr>
              <a:t>成军台 · 息壤杯预赛  |  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C2E"/>
                </a:solidFill>
                <a:latin typeface="Microsoft YaHei"/>
              </a:rPr>
              <a:t>真实数据与可验收产物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F1C2E"/>
                </a:solidFill>
                <a:latin typeface="Microsoft YaHei"/>
              </a:defRPr>
            </a:pPr>
            <a:r>
              <a:t>•  浙江政采公开标讯入库（演示库数百条量级，可刷新）</a:t>
            </a:r>
          </a:p>
          <a:p>
            <a:pPr>
              <a:spcAft>
                <a:spcPts val="800"/>
              </a:spcAft>
              <a:defRPr sz="1800">
                <a:solidFill>
                  <a:srgbClr val="0F1C2E"/>
                </a:solidFill>
                <a:latin typeface="Microsoft YaHei"/>
              </a:defRPr>
            </a:pPr>
            <a:r>
              <a:t>•  种草内容包写作注入真实统计，初审约束「示例 / 来源」标注</a:t>
            </a:r>
          </a:p>
          <a:p>
            <a:pPr>
              <a:spcAft>
                <a:spcPts val="800"/>
              </a:spcAft>
              <a:defRPr sz="1800">
                <a:solidFill>
                  <a:srgbClr val="0F1C2E"/>
                </a:solidFill>
                <a:latin typeface="Microsoft YaHei"/>
              </a:defRPr>
            </a:pPr>
            <a:r>
              <a:t>•  样例战役周包种子化：评委无需等长推理也能走通 60 秒</a:t>
            </a:r>
          </a:p>
          <a:p>
            <a:pPr>
              <a:spcAft>
                <a:spcPts val="800"/>
              </a:spcAft>
              <a:defRPr sz="1800">
                <a:solidFill>
                  <a:srgbClr val="0F1C2E"/>
                </a:solidFill>
                <a:latin typeface="Microsoft YaHei"/>
              </a:defRPr>
            </a:pPr>
            <a:r>
              <a:t>•  产物可预览、可导出 Word、可同步内容工厂 / 推入标书知识库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Microsoft YaHei"/>
              </a:rPr>
              <a:t>成军台 · 息壤杯预赛  |  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C2E"/>
                </a:solidFill>
                <a:latin typeface="Microsoft YaHei"/>
              </a:rPr>
              <a:t>五大评审维度对位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43000"/>
            <a:ext cx="107899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34416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D9488"/>
                </a:solidFill>
                <a:latin typeface="Microsoft YaHei"/>
              </a:rPr>
              <a:t>创新性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344168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F1C2E"/>
                </a:solidFill>
                <a:latin typeface="Microsoft YaHei"/>
              </a:rPr>
              <a:t>一人成军 OS，而非 Chat 套壳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107899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5856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D9488"/>
                </a:solidFill>
                <a:latin typeface="Microsoft YaHei"/>
              </a:rPr>
              <a:t>商业模式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258568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F1C2E"/>
                </a:solidFill>
                <a:latin typeface="Microsoft YaHei"/>
              </a:rPr>
              <a:t>席位 + Token + 模板战役包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971800"/>
            <a:ext cx="107899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17296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D9488"/>
                </a:solidFill>
                <a:latin typeface="Microsoft YaHei"/>
              </a:rPr>
              <a:t>社会价值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3172968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F1C2E"/>
                </a:solidFill>
                <a:latin typeface="Microsoft YaHei"/>
              </a:rPr>
              <a:t>降低一人公司数字化门槛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86200"/>
            <a:ext cx="107899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8736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D9488"/>
                </a:solidFill>
                <a:latin typeface="Microsoft YaHei"/>
              </a:rPr>
              <a:t>应用成效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4087368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F1C2E"/>
                </a:solidFill>
                <a:latin typeface="Microsoft YaHei"/>
              </a:rPr>
              <a:t>60 秒可走通 + Word 可交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800600"/>
            <a:ext cx="1078992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001768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D9488"/>
                </a:solidFill>
                <a:latin typeface="Microsoft YaHei"/>
              </a:rPr>
              <a:t>孵化潜力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5001768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F1C2E"/>
                </a:solidFill>
                <a:latin typeface="Microsoft YaHei"/>
              </a:rPr>
              <a:t>息壤/天翼云亲和 · 政企可延伸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Microsoft YaHei"/>
              </a:rPr>
              <a:t>成军台 · 息壤杯预赛  |  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C2E"/>
                </a:solidFill>
                <a:latin typeface="Microsoft YaHei"/>
              </a:rPr>
              <a:t>商业与社会价值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F1C2E"/>
                </a:solidFill>
                <a:latin typeface="Microsoft YaHei"/>
              </a:defRPr>
            </a:pPr>
            <a:r>
              <a:t>•  用户：OPC / 超级个体 / 小微经营者 / 政企一线内容与投标协同</a:t>
            </a:r>
          </a:p>
          <a:p>
            <a:pPr>
              <a:spcAft>
                <a:spcPts val="800"/>
              </a:spcAft>
              <a:defRPr sz="1800">
                <a:solidFill>
                  <a:srgbClr val="0F1C2E"/>
                </a:solidFill>
                <a:latin typeface="Microsoft YaHei"/>
              </a:defRPr>
            </a:pPr>
            <a:r>
              <a:t>•  收费：订阅席位 + Token 用量 + 行业战役模板包</a:t>
            </a:r>
          </a:p>
          <a:p>
            <a:pPr>
              <a:spcAft>
                <a:spcPts val="800"/>
              </a:spcAft>
              <a:defRPr sz="1800">
                <a:solidFill>
                  <a:srgbClr val="0F1C2E"/>
                </a:solidFill>
                <a:latin typeface="Microsoft YaHei"/>
              </a:defRPr>
            </a:pPr>
            <a:r>
              <a:t>•  惠民：一个人也能完成调研→内容→跟进→复盘的可验收闭环</a:t>
            </a:r>
          </a:p>
          <a:p>
            <a:pPr>
              <a:spcAft>
                <a:spcPts val="800"/>
              </a:spcAft>
              <a:defRPr sz="1800">
                <a:solidFill>
                  <a:srgbClr val="0F1C2E"/>
                </a:solidFill>
                <a:latin typeface="Microsoft YaHei"/>
              </a:defRPr>
            </a:pPr>
            <a:r>
              <a:t>•  电信亲和：息壤算力与星辰模型主链路，天翼云公网 Demo 可部署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Microsoft YaHei"/>
              </a:rPr>
              <a:t>成军台 · 息壤杯预赛  |  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C2E"/>
                </a:solidFill>
                <a:latin typeface="Microsoft YaHei"/>
              </a:rPr>
              <a:t>演示证明（提交材料对齐）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F1C2E"/>
                </a:solidFill>
                <a:latin typeface="Microsoft YaHei"/>
              </a:defRPr>
            </a:pPr>
            <a:r>
              <a:t>•  演示视频：≤60 秒 · 1080p · 硬烧字幕 · 评委 CTA→Word→问数</a:t>
            </a:r>
          </a:p>
          <a:p>
            <a:pPr>
              <a:spcAft>
                <a:spcPts val="800"/>
              </a:spcAft>
              <a:defRPr sz="1800">
                <a:solidFill>
                  <a:srgbClr val="0F1C2E"/>
                </a:solidFill>
                <a:latin typeface="Microsoft YaHei"/>
              </a:defRPr>
            </a:pPr>
            <a:r>
              <a:t>•  本 PPT：预赛提交「演示 PPT / 商业计划书」</a:t>
            </a:r>
          </a:p>
          <a:p>
            <a:pPr>
              <a:spcAft>
                <a:spcPts val="800"/>
              </a:spcAft>
              <a:defRPr sz="1800">
                <a:solidFill>
                  <a:srgbClr val="0F1C2E"/>
                </a:solidFill>
                <a:latin typeface="Microsoft YaHei"/>
              </a:defRPr>
            </a:pPr>
            <a:r>
              <a:t>•  代码仓库：github.com/yigenfeng0707-netizen/chengjuntai-opc-xirang</a:t>
            </a:r>
          </a:p>
          <a:p>
            <a:pPr>
              <a:spcAft>
                <a:spcPts val="800"/>
              </a:spcAft>
              <a:defRPr sz="1800">
                <a:solidFill>
                  <a:srgbClr val="0F1C2E"/>
                </a:solidFill>
                <a:latin typeface="Microsoft YaHei"/>
              </a:defRPr>
            </a:pPr>
            <a:r>
              <a:t>•  账号：评委只读 judge（口令见现场说明，勿写入公开截图）</a:t>
            </a:r>
          </a:p>
          <a:p>
            <a:pPr>
              <a:spcAft>
                <a:spcPts val="800"/>
              </a:spcAft>
              <a:defRPr sz="1800">
                <a:solidFill>
                  <a:srgbClr val="0F1C2E"/>
                </a:solidFill>
                <a:latin typeface="Microsoft YaHei"/>
              </a:defRPr>
            </a:pPr>
            <a:r>
              <a:t>•  截止：2026-08-20 · 智云 Store 惠民赛道上传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Microsoft YaHei"/>
              </a:rPr>
              <a:t>成军台 · 息壤杯预赛  |  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C2E"/>
                </a:solidFill>
                <a:latin typeface="Microsoft YaHei"/>
              </a:rPr>
              <a:t>下一步（复赛 / 决赛）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F1C2E"/>
                </a:solidFill>
                <a:latin typeface="Microsoft YaHei"/>
              </a:defRPr>
            </a:pPr>
            <a:r>
              <a:t>•  公网 Demo HTTPS 加固与评委账号隔离</a:t>
            </a:r>
          </a:p>
          <a:p>
            <a:pPr>
              <a:spcAft>
                <a:spcPts val="800"/>
              </a:spcAft>
              <a:defRPr sz="1800">
                <a:solidFill>
                  <a:srgbClr val="0F1C2E"/>
                </a:solidFill>
                <a:latin typeface="Microsoft YaHei"/>
              </a:defRPr>
            </a:pPr>
            <a:r>
              <a:t>•  战役模板库扩展（更多行业 / 政企场景）</a:t>
            </a:r>
          </a:p>
          <a:p>
            <a:pPr>
              <a:spcAft>
                <a:spcPts val="800"/>
              </a:spcAft>
              <a:defRPr sz="1800">
                <a:solidFill>
                  <a:srgbClr val="0F1C2E"/>
                </a:solidFill>
                <a:latin typeface="Microsoft YaHei"/>
              </a:defRPr>
            </a:pPr>
            <a:r>
              <a:t>•  内容→公众号草稿→成效回流的运营闭环加深</a:t>
            </a:r>
          </a:p>
          <a:p>
            <a:pPr>
              <a:spcAft>
                <a:spcPts val="800"/>
              </a:spcAft>
              <a:defRPr sz="1800">
                <a:solidFill>
                  <a:srgbClr val="0F1C2E"/>
                </a:solidFill>
                <a:latin typeface="Microsoft YaHei"/>
              </a:defRPr>
            </a:pPr>
            <a:r>
              <a:t>•  标书证据矩阵与材料包自动化加强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Microsoft YaHei"/>
              </a:rPr>
              <a:t>成军台 · 息壤杯预赛  |  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谢谢评委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108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0D9488"/>
                </a:solidFill>
                <a:latin typeface="Microsoft YaHei"/>
              </a:rPr>
              <a:t>息壤育智 · 一人成军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BD5E1"/>
                </a:solidFill>
                <a:latin typeface="Microsoft YaHei"/>
              </a:rPr>
              <a:t>成军台 · 欢迎现场体验「评委 60 秒」路径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